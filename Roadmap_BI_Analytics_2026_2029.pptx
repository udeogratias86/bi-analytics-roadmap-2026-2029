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1280160"/>
            <a:ext cx="5120640" cy="5120640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91440"/>
            <a:ext cx="3474720" cy="3474720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914400"/>
            <a:ext cx="1828800" cy="1828800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ROADMAP TECHNOLOGIQUE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F7FAFC"/>
                </a:solidFill>
                <a:latin typeface="Aptos"/>
              </a:defRPr>
            </a:pPr>
            <a:r>
              <a:t>BI &amp; Analytics</a:t>
            </a:r>
            <a:br/>
            <a:r>
              <a:t>2026—2029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6126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B6CBC7"/>
                </a:solidFill>
                <a:latin typeface="Aptos"/>
              </a:defRPr>
            </a:pPr>
            <a:r>
              <a:t>Construire une BI industrialisée, centrée produit,</a:t>
            </a:r>
            <a:br/>
            <a:r>
              <a:t>au service de la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2788920" cy="548640"/>
          </a:xfrm>
          <a:prstGeom prst="round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809744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7FAFC"/>
                </a:solidFill>
                <a:latin typeface="Aptos"/>
              </a:defRPr>
            </a:pPr>
            <a:r>
              <a:t>VISION • VALEUR •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Pourquoi changer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Le constat aujourd’hui : une BI qui doit redevenir un levier de confiance.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474720" cy="32461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3246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65960"/>
            <a:ext cx="24871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Rapports isolés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377440"/>
            <a:ext cx="2487168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• Multiplication des versions</a:t>
            </a:r>
            <a:br/>
            <a:r>
              <a:t>• Vision fragmentée des indicateurs</a:t>
            </a:r>
            <a:br/>
            <a:r>
              <a:t>• Faible réutilisation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74720" cy="32461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64008" cy="32461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9432" y="2011680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0208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965960"/>
            <a:ext cx="24871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Manque de confiance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377440"/>
            <a:ext cx="2487168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• Règles métier peu explicites</a:t>
            </a:r>
            <a:br/>
            <a:r>
              <a:t>• Qualité inégale</a:t>
            </a:r>
            <a:br/>
            <a:r>
              <a:t>• Traçabilité insuffisante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783080"/>
            <a:ext cx="3474720" cy="32461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1783080"/>
            <a:ext cx="64008" cy="324612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5904" y="201168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0208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1965960"/>
            <a:ext cx="24871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Coûts élevés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377440"/>
            <a:ext cx="2487168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• Développements redondants</a:t>
            </a:r>
            <a:br/>
            <a:r>
              <a:t>• Maintenance complexe</a:t>
            </a:r>
            <a:br/>
            <a:r>
              <a:t>• Time-to-insight trop long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A99D"/>
                </a:solidFill>
                <a:latin typeface="Aptos"/>
              </a:defRPr>
            </a:pPr>
            <a:r>
              <a:t>IMPACT BUSINESS  —  Décisions ralenties  •  Risques accrus  •  Valeur data sous-exploitée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Quelle cible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Vision 2029 : une plateforme de décisions fiable, accessible et à l’échelle.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1546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1546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6654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01168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Gold Data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423160"/>
            <a:ext cx="2441448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Des données prêtes à l’emploi, documentées, gouvernées et réutilisables par domaine.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31546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64008" cy="315468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205740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6654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01168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Produit sémantique certifié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423160"/>
            <a:ext cx="2441448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Une définition commune des KPI, métriques et règles métier, avec qualité et sécurité intégrées.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429000" cy="31546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64008" cy="315468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205740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06654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01168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Expériences décisionnelles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423160"/>
            <a:ext cx="2441448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Self-service, insights contextualisés et automatisation pour agir plus vite.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UNE CHAÎNE DE VALEUR UNIQUE  →  Données  →  Sens  →  Décisions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Que faut-il maîtriser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Cinq capacités complémentaires pour transformer la donnée en décisions.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164592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2024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Semantic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KPI, métriques, règles métier et modèles réutilisables.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6400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920240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Delivery &amp; Automatisation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CI/CD, tests, quality gates, promotion et rollback.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91640"/>
            <a:ext cx="64008" cy="164592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200" y="192024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Gouvernance &amp;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Standards, certification, lineage, accès et conformité.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39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49039"/>
            <a:ext cx="64008" cy="16459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3977639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86783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3931919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Intégration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343399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Préparation, qualité, disponibilité et optimisation des sources.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749039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3749039"/>
            <a:ext cx="64008" cy="1645920"/>
          </a:xfrm>
          <a:prstGeom prst="rect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3977639"/>
            <a:ext cx="420624" cy="420624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986783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931919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Analytics avancée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343399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Forecasting, simulation, ML, Copilots et Data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Feuille de route en 4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Chaque étape délivre de la valeur tout en préparant la suivante.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487168" cy="306324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35608" y="1572768"/>
            <a:ext cx="777240" cy="777240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7FAFC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06040"/>
            <a:ext cx="21579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E5B4F"/>
                </a:solidFill>
                <a:latin typeface="Aptos"/>
              </a:defRPr>
            </a:pPr>
            <a:r>
              <a:t>FONDER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46120"/>
            <a:ext cx="197510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6CBC7"/>
                </a:solidFill>
                <a:latin typeface="Aptos"/>
              </a:defRPr>
            </a:pPr>
            <a:r>
              <a:t>Architecture cible</a:t>
            </a:r>
            <a:br/>
            <a:r>
              <a:t>Standards de DEV</a:t>
            </a:r>
            <a:br/>
            <a:r>
              <a:t>Premiers modèles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4612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A99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965960"/>
            <a:ext cx="2487168" cy="306324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8536" y="1572768"/>
            <a:ext cx="777240" cy="77724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75564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7FAFC"/>
                </a:solidFill>
                <a:latin typeface="Aptos"/>
              </a:defRPr>
            </a:pPr>
            <a:r>
              <a:t>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06040"/>
            <a:ext cx="21579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80ED"/>
                </a:solidFill>
                <a:latin typeface="Aptos"/>
              </a:defRPr>
            </a:pPr>
            <a:r>
              <a:t>INDUSTRIALISER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46120"/>
            <a:ext cx="197510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6CBC7"/>
                </a:solidFill>
                <a:latin typeface="Aptos"/>
              </a:defRPr>
            </a:pPr>
            <a:r>
              <a:t>CI/CD et qualité</a:t>
            </a:r>
            <a:br/>
            <a:r>
              <a:t>Sous-domaines</a:t>
            </a:r>
            <a:br/>
            <a:r>
              <a:t>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324612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A99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1965960"/>
            <a:ext cx="2487168" cy="306324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41464" y="1572768"/>
            <a:ext cx="777240" cy="777240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75564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7FAFC"/>
                </a:solidFill>
                <a:latin typeface="Aptos"/>
              </a:defRPr>
            </a:pPr>
            <a:r>
              <a:t>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606040"/>
            <a:ext cx="21579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856D9"/>
                </a:solidFill>
                <a:latin typeface="Aptos"/>
              </a:defRPr>
            </a:pPr>
            <a:r>
              <a:t>ÉTENDRE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246120"/>
            <a:ext cx="197510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6CBC7"/>
                </a:solidFill>
                <a:latin typeface="Aptos"/>
              </a:defRPr>
            </a:pPr>
            <a:r>
              <a:t>Nouveaux domaines</a:t>
            </a:r>
            <a:br/>
            <a:r>
              <a:t>Self-service</a:t>
            </a:r>
            <a:br/>
            <a:r>
              <a:t>Analytics avancée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24612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A99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3144" y="1965960"/>
            <a:ext cx="2487168" cy="306324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94392" y="1572768"/>
            <a:ext cx="777240" cy="77724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1755648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7FAFC"/>
                </a:solidFill>
                <a:latin typeface="Aptos"/>
              </a:defRPr>
            </a:pPr>
            <a:r>
              <a:t>2029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606040"/>
            <a:ext cx="21579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2994A"/>
                </a:solidFill>
                <a:latin typeface="Aptos"/>
              </a:defRPr>
            </a:pPr>
            <a:r>
              <a:t>EXCELLER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246120"/>
            <a:ext cx="197510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6CBC7"/>
                </a:solidFill>
                <a:latin typeface="Aptos"/>
              </a:defRPr>
            </a:pPr>
            <a:r>
              <a:t>IA &amp; Data Agents</a:t>
            </a:r>
            <a:br/>
            <a:r>
              <a:t>Optimisation</a:t>
            </a:r>
            <a:br/>
            <a:r>
              <a:t>Impact mesurable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Principes de réussite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Les convictions qui guident nos décisions et notre exécution.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164592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2024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Centré produit sémantique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Un socle commun de valeur durable.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64008" cy="16459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920240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Qualité &amp; 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La confiance, prérequis de l’adoption.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91640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91640"/>
            <a:ext cx="64008" cy="164592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200" y="192024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87452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Adoption &amp; Accompagnement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86000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Des utilisateurs engagés dans le changement.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39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49039"/>
            <a:ext cx="64008" cy="16459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3977639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86783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3931919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Agilité &amp; Itération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343399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Livrer, apprendre et s’améliorer en continu.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749039"/>
            <a:ext cx="3429000" cy="164592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3749039"/>
            <a:ext cx="64008" cy="1645920"/>
          </a:xfrm>
          <a:prstGeom prst="rect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3977639"/>
            <a:ext cx="420624" cy="420624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986783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931919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Collaboration &amp; Partenariat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343399"/>
            <a:ext cx="24414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IT, Data et métiers unis vers l’impact.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Bénéfices pour l’entreprise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Une BI industrialisée transforme la donnée en levier de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Décisions plus rapides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Réduction du time-to-insight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64008" cy="1554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874520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Qualité &amp; Confiance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Données fiables, sécurisées, traçables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64008" cy="15544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200" y="1874520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Efficacité opérationnelle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Automatisation et réutilisation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611880"/>
            <a:ext cx="64008" cy="155448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384048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Expérience utilisateur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Autonomie et self-service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3611880"/>
            <a:ext cx="64008" cy="1554480"/>
          </a:xfrm>
          <a:prstGeom prst="rect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3840480"/>
            <a:ext cx="420624" cy="420624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Innovation &amp; scalabilité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Nouvelles capacités à l’échelle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611880"/>
            <a:ext cx="64008" cy="155448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58200" y="384048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Impact business mesurable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Valeur et ROI objectivés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Leviers et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Un cadre clair pour accélérer, aligner et faire durer la transformation.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356616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" cy="356616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2024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74520"/>
            <a:ext cx="436168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Leviers clés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286000"/>
            <a:ext cx="4361688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• Sponsoring engagé</a:t>
            </a:r>
            <a:br/>
            <a:r>
              <a:t>• Vision partagée</a:t>
            </a:r>
            <a:br/>
            <a:r>
              <a:t>• Données maîtrisées</a:t>
            </a:r>
            <a:br/>
            <a:r>
              <a:t>• Compétences développées</a:t>
            </a:r>
            <a:br/>
            <a:r>
              <a:t>• Méthodologie commune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349240" cy="356616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64008" cy="356616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92024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293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1874520"/>
            <a:ext cx="436168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Rôles complémentaires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286000"/>
            <a:ext cx="4361688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• Comité de pilotage</a:t>
            </a:r>
            <a:br/>
            <a:r>
              <a:t>• Product Owner</a:t>
            </a:r>
            <a:br/>
            <a:r>
              <a:t>• Équipe Data &amp; BI</a:t>
            </a:r>
            <a:br/>
            <a:r>
              <a:t>• Data Steward</a:t>
            </a:r>
            <a:br/>
            <a:r>
              <a:t>• Utilisateurs métiers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Indicateurs de succès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Mesurer l’adoption, la qualité et la valeur pour piloter la trajectoire.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% utilisateurs actifs mensuels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64008" cy="1554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874520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% données conformes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64008" cy="15544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200" y="1874520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88366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82880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4028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Réduction du time-to-insight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611880"/>
            <a:ext cx="64008" cy="1554480"/>
          </a:xfrm>
          <a:prstGeom prst="rect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3840480"/>
            <a:ext cx="420624" cy="420624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Fiabilité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Disponibilité des plateformes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3611880"/>
            <a:ext cx="64008" cy="1554480"/>
          </a:xfrm>
          <a:prstGeom prst="rect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3840480"/>
            <a:ext cx="420624" cy="420624"/>
          </a:xfrm>
          <a:prstGeom prst="ellipse">
            <a:avLst/>
          </a:prstGeom>
          <a:solidFill>
            <a:srgbClr val="0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Valeur métier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Cas d’usage à impact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611880"/>
            <a:ext cx="3429000" cy="1554480"/>
          </a:xfrm>
          <a:prstGeom prst="roundRect">
            <a:avLst/>
          </a:prstGeom>
          <a:solidFill>
            <a:srgbClr val="10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611880"/>
            <a:ext cx="64008" cy="155448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58200" y="3840480"/>
            <a:ext cx="420624" cy="420624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84962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3794760"/>
            <a:ext cx="24414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7FAFC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4206240"/>
            <a:ext cx="24414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B6CBC7"/>
                </a:solidFill>
                <a:latin typeface="Aptos"/>
              </a:defRPr>
            </a:pPr>
            <a:r>
              <a:t>Gains réalisés / investissements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Transformer l’ambition en initiatives concrètes, à fort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Atelier de lancement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0020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Valider vision et priorités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9576" y="2194560"/>
            <a:ext cx="64008" cy="457200"/>
          </a:xfrm>
          <a:prstGeom prst="rect">
            <a:avLst/>
          </a:prstGeom>
          <a:solidFill>
            <a:srgbClr val="B6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51760"/>
            <a:ext cx="594360" cy="59436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65176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Cadrage &amp; Gouvernance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5176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Définir rôles et règles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9576" y="3246120"/>
            <a:ext cx="64008" cy="457200"/>
          </a:xfrm>
          <a:prstGeom prst="rect">
            <a:avLst/>
          </a:prstGeom>
          <a:solidFill>
            <a:srgbClr val="B6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703320"/>
            <a:ext cx="594360" cy="594360"/>
          </a:xfrm>
          <a:prstGeom prst="ellipse">
            <a:avLst/>
          </a:prstGeom>
          <a:solidFill>
            <a:srgbClr val="785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03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Plan détaillé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70332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Construire backlog et trajectoire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9576" y="4297680"/>
            <a:ext cx="64008" cy="457200"/>
          </a:xfrm>
          <a:prstGeom prst="rect">
            <a:avLst/>
          </a:prstGeom>
          <a:solidFill>
            <a:srgbClr val="B6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754879"/>
            <a:ext cx="594360" cy="59436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28031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79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Kick-off des initiatives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754879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Démarrer les premiers chantiers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A99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Passons à l’action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6CBC7"/>
                </a:solidFill>
                <a:latin typeface="Aptos"/>
              </a:defRPr>
            </a:pPr>
            <a:r>
              <a:t>Une ambition partagée, une valeur durable.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446520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6CBC7"/>
                </a:solidFill>
                <a:latin typeface="Aptos"/>
              </a:defRPr>
            </a:pPr>
            <a:r>
              <a:t>BI &amp; ANALYTICS  •  2026—2029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97840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7FAFC"/>
                </a:solidFill>
                <a:latin typeface="Aptos"/>
              </a:defRPr>
            </a:pPr>
            <a:r>
              <a:t>La donnée est notre levier.</a:t>
            </a:r>
            <a:br/>
            <a:r>
              <a:t>La performance est notre destination.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6324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3063240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Adoptons une vision commune et ambitieuse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0215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502152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Priorisons les initiatives à fort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41064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941064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Collaborons et partageons nos connaissances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79976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4379976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Mesurons nos progrès et célébrons les succès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188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A9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81888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6CBC7"/>
                </a:solidFill>
                <a:latin typeface="Aptos"/>
              </a:defRPr>
            </a:pPr>
            <a:r>
              <a:t>Restons agiles et tournés vers l’avenir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532120"/>
            <a:ext cx="3977639" cy="5303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5632704"/>
            <a:ext cx="3703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7FAFC"/>
                </a:solidFill>
                <a:latin typeface="Aptos"/>
              </a:defRPr>
            </a:pPr>
            <a:r>
              <a:t>ENSEMBLE, CRÉONS DE LA VALEUR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